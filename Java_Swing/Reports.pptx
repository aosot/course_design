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73" r:id="rId7"/>
    <p:sldId id="260" r:id="rId8"/>
    <p:sldId id="261" r:id="rId9"/>
    <p:sldId id="274" r:id="rId10"/>
    <p:sldId id="275" r:id="rId11"/>
    <p:sldId id="262" r:id="rId12"/>
    <p:sldId id="263" r:id="rId13"/>
    <p:sldId id="264" r:id="rId14"/>
    <p:sldId id="265" r:id="rId15"/>
    <p:sldId id="266" r:id="rId16"/>
    <p:sldId id="279" r:id="rId17"/>
    <p:sldId id="267" r:id="rId18"/>
    <p:sldId id="268" r:id="rId19"/>
    <p:sldId id="270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2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AB902-F20F-42CA-0493-D1CAC587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BD5CEC-BD4C-0E59-7919-6B7AB6FD0D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42E0E-6C81-E4E5-138D-8F077F36B6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7DCF5F2-A9A8-0F8E-E5BD-53812E473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2FC344-854F-F7EC-B20C-8BF57C87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C8DC2-44C9-5F59-D082-C19AE38570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36FB4-15FD-361A-C554-F014DD913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6550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1C2B-1ECD-27CE-B975-90541081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30325-52C9-6D04-EB41-11B103A2DE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CAE6F-C53D-66D9-70D0-7E8BBD1FA9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830D6F-CCE0-665D-E05C-BC6C11A332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3504E6-B2B1-C4AE-15A1-E207F21B5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C41C5-FC98-78B6-BF0B-2F23683BFF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CAD0E-DB70-F361-2D4E-AF8B1B9AF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7704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4012F-CB45-5CCD-5287-1CE2A25E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02AA3F-4399-8C9F-5E85-189EA69555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4BD96-46A7-9EA1-900E-5D57E0A4CF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FFCF8B-C781-BE70-1626-E164AFBB9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7F1BAC-392A-6308-118E-4BE25A31D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8129A-406F-B105-91FF-79186F55AA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AD7EB-677A-CF61-A9B5-E5D51075A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8295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7177-E146-B38B-EF35-31378FDD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B1F83-2449-E533-316D-36DD192A5F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F084B-43AC-3DA7-61FF-1D97705BD3A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C98CC3-0AE5-3D53-23DE-AC471EC88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B639FB-884E-3333-BD40-69D1CE626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879D5-1403-6070-5F05-86ADC685F3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9A6EA-FDD9-622F-84C9-1848B7751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4535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65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通过绘制图形来构建自定义界面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06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4270439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DA883F-0B32-3928-34CE-F53F4D5E23B4}"/>
              </a:ext>
            </a:extLst>
          </p:cNvPr>
          <p:cNvSpPr txBox="1"/>
          <p:nvPr/>
        </p:nvSpPr>
        <p:spPr>
          <a:xfrm>
            <a:off x="10248645" y="5824153"/>
            <a:ext cx="14544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常晨硕</a:t>
            </a:r>
            <a:endParaRPr lang="en-US" altLang="zh-CN" dirty="0"/>
          </a:p>
          <a:p>
            <a:r>
              <a:rPr lang="en-US" altLang="zh-CN" dirty="0"/>
              <a:t>202415000302</a:t>
            </a:r>
          </a:p>
          <a:p>
            <a:r>
              <a:rPr lang="en-US" altLang="zh-CN" dirty="0"/>
              <a:t>19327519833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r>
              <a:rPr lang="en-US" sz="2800" b="0" i="0" u="none" strike="noStrike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2800" dirty="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提纲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89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latin typeface="Noto Sans SC" panose="020B0200000000000000" pitchFamily="34" charset="-128"/>
                <a:ea typeface="Noto Sans SC" panose="020B0200000000000000" pitchFamily="34" charset="-128"/>
              </a:rPr>
              <a:t>自定义组件的外观、事件响应的原理</a:t>
            </a:r>
            <a:endParaRPr lang="en-US" sz="1800" b="1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4699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直接使用</a:t>
            </a:r>
            <a:r>
              <a:rPr lang="en-US" altLang="zh-CN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java.swing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包中组件和自定义的对比，以及底层实现原理的统一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556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8"/>
          <p:cNvSpPr/>
          <p:nvPr/>
        </p:nvSpPr>
        <p:spPr>
          <a:xfrm>
            <a:off x="3683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83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具体原件自定义构建细节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3746500" y="4699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</a:t>
            </a:r>
            <a:r>
              <a:rPr lang="en-US" altLang="zh-CN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JButton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JLabel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JTextField</a:t>
            </a:r>
            <a:r>
              <a:rPr lang="zh-CN" altLang="en-US" sz="13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以及</a:t>
            </a:r>
            <a:r>
              <a:rPr lang="en-US" altLang="zh-CN" sz="13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Jpanel</a:t>
            </a:r>
            <a:r>
              <a:rPr lang="zh-CN" altLang="en-US" sz="13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的重写、理解类</a:t>
            </a:r>
            <a:r>
              <a:rPr lang="en-US" altLang="zh-CN" sz="13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Graphics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自定义组件的使用、程序的展示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540500" y="4699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3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组合自定义组件，完整实现功能简单的单机小程序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017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6" name="AutoShape 16"/>
          <p:cNvSpPr/>
          <p:nvPr/>
        </p:nvSpPr>
        <p:spPr>
          <a:xfrm>
            <a:off x="9144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与思考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9207500" y="4699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探索更多组件类型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altLang="zh-CN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swing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的可能应用</a:t>
            </a:r>
            <a:r>
              <a:rPr 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3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并总结学习</a:t>
            </a: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成果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43274"/>
            <a:ext cx="2343278" cy="1496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500" b="1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200" dirty="0"/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自定义组件的外观、事件响应的原理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19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直接使用</a:t>
            </a:r>
            <a:r>
              <a:rPr lang="en-US" altLang="zh-CN" sz="16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java.swing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包中组件和自定义组件的对比，以及理解底层实现原理的统一性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2832"/>
            <a:ext cx="5207000" cy="5474629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/>
              <a:t>顶级容器：</a:t>
            </a:r>
            <a:r>
              <a:rPr lang="en-US" altLang="zh-CN" dirty="0" err="1"/>
              <a:t>JFrame</a:t>
            </a:r>
            <a:r>
              <a:rPr lang="zh-CN" altLang="en-US" dirty="0"/>
              <a:t>、</a:t>
            </a:r>
            <a:r>
              <a:rPr lang="en-US" altLang="zh-CN" dirty="0" err="1"/>
              <a:t>JDialog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次级容器：</a:t>
            </a:r>
            <a:r>
              <a:rPr lang="en-US" altLang="zh-CN" dirty="0" err="1"/>
              <a:t>JPanel</a:t>
            </a:r>
            <a:endParaRPr lang="en-US" altLang="zh-CN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标准组件：</a:t>
            </a:r>
            <a:r>
              <a:rPr lang="en-US" altLang="zh-CN" dirty="0" err="1"/>
              <a:t>JButton</a:t>
            </a:r>
            <a:r>
              <a:rPr lang="zh-CN" altLang="en-US" dirty="0"/>
              <a:t>、</a:t>
            </a:r>
            <a:r>
              <a:rPr lang="en-US" altLang="zh-CN" dirty="0" err="1"/>
              <a:t>JTextField</a:t>
            </a:r>
            <a:r>
              <a:rPr lang="zh-CN" altLang="en-US" dirty="0"/>
              <a:t>、</a:t>
            </a:r>
            <a:r>
              <a:rPr lang="en-US" altLang="zh-CN" dirty="0" err="1"/>
              <a:t>JLabel</a:t>
            </a:r>
            <a:r>
              <a:rPr lang="zh-CN" altLang="en-US" dirty="0"/>
              <a:t>、</a:t>
            </a:r>
            <a:r>
              <a:rPr lang="en-US" altLang="zh-CN" dirty="0" err="1"/>
              <a:t>JTextArea</a:t>
            </a:r>
            <a:r>
              <a:rPr lang="zh-CN" altLang="en-US" dirty="0"/>
              <a:t>、</a:t>
            </a:r>
            <a:r>
              <a:rPr lang="en-US" altLang="zh-CN" dirty="0" err="1"/>
              <a:t>JRadioButton</a:t>
            </a:r>
            <a:r>
              <a:rPr lang="zh-CN" altLang="en-US" dirty="0"/>
              <a:t>等</a:t>
            </a:r>
            <a:endParaRPr lang="en-US" altLang="zh-CN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762000" y="648939"/>
            <a:ext cx="5207000" cy="762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78000" y="775939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直接使用自带原件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1537939"/>
            <a:ext cx="4699000" cy="43040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223000" y="632832"/>
            <a:ext cx="5207000" cy="5474629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本项目不直接使用 </a:t>
            </a:r>
            <a:r>
              <a:rPr lang="en-US" altLang="zh-CN" dirty="0" err="1"/>
              <a:t>java.swing</a:t>
            </a:r>
            <a:r>
              <a:rPr lang="en-US" altLang="zh-CN" dirty="0"/>
              <a:t> </a:t>
            </a:r>
            <a:r>
              <a:rPr lang="zh-CN" altLang="en-US" dirty="0"/>
              <a:t>包中已有的 </a:t>
            </a:r>
            <a:r>
              <a:rPr lang="en-US" altLang="zh-CN" dirty="0" err="1"/>
              <a:t>JButton</a:t>
            </a:r>
            <a:r>
              <a:rPr lang="zh-CN" altLang="en-US" dirty="0"/>
              <a:t>、</a:t>
            </a:r>
            <a:r>
              <a:rPr lang="en-US" altLang="zh-CN" dirty="0" err="1"/>
              <a:t>JLabel</a:t>
            </a:r>
            <a:r>
              <a:rPr lang="zh-CN" altLang="en-US" dirty="0"/>
              <a:t>、</a:t>
            </a:r>
            <a:r>
              <a:rPr lang="en-US" altLang="zh-CN" dirty="0" err="1"/>
              <a:t>JTextField</a:t>
            </a:r>
            <a:r>
              <a:rPr lang="en-US" altLang="zh-CN" dirty="0"/>
              <a:t> </a:t>
            </a:r>
            <a:r>
              <a:rPr lang="zh-CN" altLang="en-US" dirty="0"/>
              <a:t>等现成组件，而是通过手动编写类代替系统包自带的类、自主定义组件结构、自主实现绘制逻辑与交互逻辑。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en-US" dirty="0"/>
          </a:p>
          <a:p>
            <a:pPr>
              <a:lnSpc>
                <a:spcPct val="150000"/>
              </a:lnSpc>
              <a:defRPr/>
            </a:pPr>
            <a:r>
              <a:rPr lang="zh-CN" altLang="en-US" b="1" dirty="0"/>
              <a:t>自定义组件，就是不使用 </a:t>
            </a:r>
            <a:r>
              <a:rPr lang="en-US" altLang="zh-CN" b="1" dirty="0"/>
              <a:t>Swing </a:t>
            </a:r>
            <a:r>
              <a:rPr lang="zh-CN" altLang="en-US" b="1" dirty="0"/>
              <a:t>自带控件，通过编写自定义类、自主实现绘制逻辑、自主处理交互事件，并利用继承自 </a:t>
            </a:r>
            <a:r>
              <a:rPr lang="en-US" altLang="zh-CN" b="1" dirty="0" err="1"/>
              <a:t>JPanel</a:t>
            </a:r>
            <a:r>
              <a:rPr lang="en-US" altLang="zh-CN" b="1" dirty="0"/>
              <a:t> </a:t>
            </a:r>
            <a:r>
              <a:rPr lang="zh-CN" altLang="en-US" b="1" dirty="0"/>
              <a:t>的 </a:t>
            </a:r>
            <a:r>
              <a:rPr lang="en-US" altLang="zh-CN" b="1" dirty="0" err="1"/>
              <a:t>MyPanel</a:t>
            </a:r>
            <a:r>
              <a:rPr lang="en-US" altLang="zh-CN" b="1" dirty="0"/>
              <a:t> </a:t>
            </a:r>
            <a:r>
              <a:rPr lang="zh-CN" altLang="en-US" b="1" dirty="0"/>
              <a:t>作为统一画布，完成整个 </a:t>
            </a:r>
            <a:r>
              <a:rPr lang="en-US" altLang="zh-CN" b="1" dirty="0"/>
              <a:t>GUI </a:t>
            </a:r>
            <a:r>
              <a:rPr lang="zh-CN" altLang="en-US" b="1" dirty="0"/>
              <a:t>界面的底层实现。</a:t>
            </a:r>
            <a:endParaRPr b="1" dirty="0"/>
          </a:p>
        </p:txBody>
      </p:sp>
      <p:sp>
        <p:nvSpPr>
          <p:cNvPr id="9" name="AutoShape 9"/>
          <p:cNvSpPr/>
          <p:nvPr/>
        </p:nvSpPr>
        <p:spPr>
          <a:xfrm>
            <a:off x="6223000" y="636239"/>
            <a:ext cx="5207000" cy="787400"/>
          </a:xfrm>
          <a:prstGeom prst="roundRect">
            <a:avLst>
              <a:gd name="adj" fmla="val 15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239000" y="750539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</a:t>
            </a:r>
            <a:r>
              <a:rPr lang="zh-CN" altLang="en-US" sz="2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组件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1537939"/>
            <a:ext cx="4699000" cy="43040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1000"/>
              </a:spcBef>
              <a:defRPr/>
            </a:pPr>
            <a:endParaRPr lang="en-US" sz="1300" b="0" i="0" u="none" strike="noStrike" dirty="0">
              <a:solidFill>
                <a:srgbClr val="60606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D6C9206-DE6B-E6DC-D485-461546DB8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761" y="2276527"/>
            <a:ext cx="3018513" cy="380553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2DEAFCF-C329-F01B-5E6D-F309E1FDF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82436"/>
            <a:ext cx="2365065" cy="1016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2F836-898E-05A2-CBDA-CCF434DE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1E02AE0-E9B9-2302-1B38-88876220E71E}"/>
              </a:ext>
            </a:extLst>
          </p:cNvPr>
          <p:cNvSpPr/>
          <p:nvPr/>
        </p:nvSpPr>
        <p:spPr>
          <a:xfrm>
            <a:off x="406057" y="19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底层原理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7048F7A-CA77-1345-61A7-694A0920B0CF}"/>
              </a:ext>
            </a:extLst>
          </p:cNvPr>
          <p:cNvSpPr/>
          <p:nvPr/>
        </p:nvSpPr>
        <p:spPr>
          <a:xfrm>
            <a:off x="761999" y="1757051"/>
            <a:ext cx="10668000" cy="4592949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</a:rPr>
              <a:t>绘制层面：</a:t>
            </a:r>
            <a:r>
              <a:rPr lang="zh-CN" altLang="en-US" dirty="0"/>
              <a:t>无论是官方组件还是自定义组件，最终都依赖</a:t>
            </a:r>
            <a:r>
              <a:rPr lang="en-US" altLang="zh-CN" dirty="0"/>
              <a:t>Graphics</a:t>
            </a:r>
            <a:r>
              <a:rPr lang="zh-CN" altLang="en-US" dirty="0"/>
              <a:t>对象完成矩形、文字、边框等像素内容的生成。官方组件的外观，本质是封装好的</a:t>
            </a:r>
            <a:r>
              <a:rPr lang="en-US" altLang="zh-CN" dirty="0" err="1"/>
              <a:t>paintComponent</a:t>
            </a:r>
            <a:r>
              <a:rPr lang="zh-CN" altLang="en-US" dirty="0"/>
              <a:t>方法实现。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en-US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 err="1"/>
              <a:t>paintComponent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Swing </a:t>
            </a:r>
            <a:r>
              <a:rPr lang="zh-CN" altLang="en-US" dirty="0"/>
              <a:t>所有 </a:t>
            </a:r>
            <a:r>
              <a:rPr lang="en-US" altLang="zh-CN" dirty="0" err="1"/>
              <a:t>JComponent</a:t>
            </a:r>
            <a:r>
              <a:rPr lang="en-US" altLang="zh-CN" dirty="0"/>
              <a:t> </a:t>
            </a:r>
            <a:r>
              <a:rPr lang="zh-CN" altLang="en-US" dirty="0"/>
              <a:t>组件自带的绘制方法，每个组件（</a:t>
            </a:r>
            <a:r>
              <a:rPr lang="en-US" altLang="zh-CN" dirty="0" err="1"/>
              <a:t>JButton</a:t>
            </a:r>
            <a:r>
              <a:rPr lang="zh-CN" altLang="en-US" dirty="0"/>
              <a:t>、</a:t>
            </a:r>
            <a:r>
              <a:rPr lang="en-US" altLang="zh-CN" dirty="0" err="1"/>
              <a:t>JLabel</a:t>
            </a:r>
            <a:r>
              <a:rPr lang="zh-CN" altLang="en-US" dirty="0"/>
              <a:t>、</a:t>
            </a:r>
            <a:r>
              <a:rPr lang="en-US" altLang="zh-CN" dirty="0" err="1"/>
              <a:t>JPanel</a:t>
            </a:r>
            <a:r>
              <a:rPr lang="zh-CN" altLang="en-US" dirty="0"/>
              <a:t>）自身都拥有该方法，用于实现自身外观渲染。官方组件的 </a:t>
            </a:r>
            <a:r>
              <a:rPr lang="en-US" altLang="zh-CN" dirty="0" err="1"/>
              <a:t>paintComponent</a:t>
            </a:r>
            <a:r>
              <a:rPr lang="en-US" altLang="zh-CN" dirty="0"/>
              <a:t> </a:t>
            </a:r>
            <a:r>
              <a:rPr lang="zh-CN" altLang="en-US" dirty="0"/>
              <a:t>已在底层封装，组件可</a:t>
            </a:r>
            <a:r>
              <a:rPr lang="zh-CN" altLang="en-US" b="1" dirty="0"/>
              <a:t>自动完成自我绘制</a:t>
            </a:r>
            <a:r>
              <a:rPr lang="zh-CN" altLang="en-US" dirty="0"/>
              <a:t>；而自定义 </a:t>
            </a:r>
            <a:r>
              <a:rPr lang="en-US" altLang="zh-CN" dirty="0"/>
              <a:t>GUI </a:t>
            </a:r>
            <a:r>
              <a:rPr lang="zh-CN" altLang="en-US" dirty="0"/>
              <a:t>开发中，由于不使用系统封装组件，需要重写 </a:t>
            </a:r>
            <a:r>
              <a:rPr lang="en-US" altLang="zh-CN" dirty="0" err="1"/>
              <a:t>JPanel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 err="1"/>
              <a:t>paintComponent</a:t>
            </a:r>
            <a:r>
              <a:rPr lang="en-US" altLang="zh-CN" dirty="0"/>
              <a:t> </a:t>
            </a:r>
            <a:r>
              <a:rPr lang="zh-CN" altLang="en-US" dirty="0"/>
              <a:t>方法，将面板作为统一画布，在其中手动调用各个自定义组件的绘制逻辑，完成整体界面渲染。本质上，重写 </a:t>
            </a:r>
            <a:r>
              <a:rPr lang="en-US" altLang="zh-CN" dirty="0" err="1"/>
              <a:t>paintComponent</a:t>
            </a:r>
            <a:r>
              <a:rPr lang="en-US" altLang="zh-CN" dirty="0"/>
              <a:t> </a:t>
            </a:r>
            <a:r>
              <a:rPr lang="zh-CN" altLang="en-US" dirty="0"/>
              <a:t>就是接管了 </a:t>
            </a:r>
            <a:r>
              <a:rPr lang="en-US" altLang="zh-CN" dirty="0"/>
              <a:t>Swing </a:t>
            </a:r>
            <a:r>
              <a:rPr lang="zh-CN" altLang="en-US" dirty="0"/>
              <a:t>的底层绘制流程，实现与官方组件同样的生成机制。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en-US" dirty="0"/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</a:rPr>
              <a:t>事件方面：</a:t>
            </a:r>
            <a:r>
              <a:rPr lang="zh-CN" altLang="en-US" dirty="0"/>
              <a:t>和图形渲染类似，</a:t>
            </a:r>
            <a:r>
              <a:rPr lang="en-US" altLang="zh-CN" dirty="0"/>
              <a:t>Swing </a:t>
            </a:r>
            <a:r>
              <a:rPr lang="zh-CN" altLang="en-US" dirty="0"/>
              <a:t>中所有组件的事件响应，同样遵循 “</a:t>
            </a:r>
            <a:r>
              <a:rPr lang="zh-CN" altLang="en-US" b="1" dirty="0"/>
              <a:t>系统捕获 → 层级分发 → 组件判定与处理</a:t>
            </a:r>
            <a:r>
              <a:rPr lang="zh-CN" altLang="en-US" dirty="0"/>
              <a:t>” 的底层流程。无论是官方组件还是自定义组件，事件处理的本质都是对用户交互的监听、分发与响应。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比如程序通过实现</a:t>
            </a:r>
            <a:r>
              <a:rPr lang="en-US" altLang="zh-CN" dirty="0" err="1"/>
              <a:t>MouseListener</a:t>
            </a:r>
            <a:r>
              <a:rPr lang="zh-CN" altLang="en-US" dirty="0"/>
              <a:t>、</a:t>
            </a:r>
            <a:r>
              <a:rPr lang="en-US" altLang="zh-CN" dirty="0" err="1"/>
              <a:t>KeyListener</a:t>
            </a:r>
            <a:r>
              <a:rPr lang="zh-CN" altLang="en-US" dirty="0"/>
              <a:t>两类监听接口，让面板具备接收系统交互信号的能力。操作系统捕捉到点击、按键等动作后，会将事件逐层下发至监听对象，再由对应的回调方法承接数据。</a:t>
            </a:r>
            <a:endParaRPr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5360193-0387-5196-D31E-708C41E4398D}"/>
              </a:ext>
            </a:extLst>
          </p:cNvPr>
          <p:cNvSpPr/>
          <p:nvPr/>
        </p:nvSpPr>
        <p:spPr>
          <a:xfrm>
            <a:off x="761999" y="902127"/>
            <a:ext cx="10667999" cy="854927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B26C91-AA40-781A-50DC-BF9D267D0F0E}"/>
              </a:ext>
            </a:extLst>
          </p:cNvPr>
          <p:cNvSpPr txBox="1"/>
          <p:nvPr/>
        </p:nvSpPr>
        <p:spPr>
          <a:xfrm>
            <a:off x="784500" y="1175701"/>
            <a:ext cx="9911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Swing </a:t>
            </a:r>
            <a:r>
              <a:rPr lang="zh-CN" altLang="en-US" dirty="0"/>
              <a:t>所有可视组件本质都是</a:t>
            </a:r>
            <a:r>
              <a:rPr lang="zh-CN" altLang="en-US" b="1" dirty="0"/>
              <a:t>画布图形绘制 </a:t>
            </a:r>
            <a:r>
              <a:rPr lang="en-US" altLang="zh-CN" b="1" dirty="0"/>
              <a:t>+ </a:t>
            </a:r>
            <a:r>
              <a:rPr lang="zh-CN" altLang="en-US" b="1" dirty="0"/>
              <a:t>事件回调响应。</a:t>
            </a:r>
          </a:p>
        </p:txBody>
      </p:sp>
    </p:spTree>
    <p:extLst>
      <p:ext uri="{BB962C8B-B14F-4D97-AF65-F5344CB8AC3E}">
        <p14:creationId xmlns:p14="http://schemas.microsoft.com/office/powerpoint/2010/main" val="83043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具体原件自定义构建细节</a:t>
            </a:r>
            <a:endParaRPr lang="en-US" altLang="zh-CN" sz="2000" dirty="0"/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19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1999" y="4952999"/>
            <a:ext cx="9564029" cy="12173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具体展示对</a:t>
            </a:r>
            <a:r>
              <a:rPr lang="en-US" altLang="zh-CN" sz="18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JLabel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8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JButton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、 </a:t>
            </a:r>
            <a:r>
              <a:rPr lang="en-US" altLang="zh-CN" sz="18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JTextField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以及</a:t>
            </a:r>
            <a:r>
              <a:rPr lang="en-US" altLang="zh-CN" sz="18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Jpanel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的重写、理解类</a:t>
            </a:r>
            <a:r>
              <a:rPr lang="en-US" altLang="zh-CN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Graphics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的使用方法</a:t>
            </a:r>
            <a:endParaRPr lang="en-US" altLang="zh-CN" dirty="0"/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530A9A2-6290-37B2-00FB-4A7E12760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973874"/>
            <a:ext cx="5334000" cy="2420707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254000" y="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JLabel</a:t>
            </a:r>
            <a:r>
              <a:rPr lang="en-US" altLang="zh-CN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Wingdings" panose="05000000000000000000" pitchFamily="2" charset="2"/>
              </a:rPr>
              <a:t></a:t>
            </a:r>
            <a:r>
              <a:rPr lang="en-US" altLang="zh-CN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MyLabel</a:t>
            </a:r>
            <a:endParaRPr lang="en-US" altLang="zh-CN" sz="1100" dirty="0"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3955D4AE-8B83-127E-A654-B4B910A8C016}"/>
              </a:ext>
            </a:extLst>
          </p:cNvPr>
          <p:cNvSpPr/>
          <p:nvPr/>
        </p:nvSpPr>
        <p:spPr>
          <a:xfrm>
            <a:off x="6221553" y="3287545"/>
            <a:ext cx="5092188" cy="11214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200" dirty="0" err="1"/>
              <a:t>super.paintComponent</a:t>
            </a:r>
            <a:r>
              <a:rPr lang="en-US" altLang="zh-CN" sz="1200" dirty="0"/>
              <a:t>(g);</a:t>
            </a:r>
            <a:r>
              <a:rPr lang="zh-CN" altLang="en-US" sz="1200" dirty="0"/>
              <a:t> 会调用父类 </a:t>
            </a:r>
            <a:r>
              <a:rPr lang="en-US" altLang="zh-CN" sz="1200" dirty="0" err="1"/>
              <a:t>JPanel</a:t>
            </a:r>
            <a:r>
              <a:rPr lang="zh-CN" altLang="en-US" sz="1200" dirty="0"/>
              <a:t> 的绘制逻辑，完成画布清空与面板背景绘制，为后续自定义组件的渲染提供干净的绘制环境。如果不调用父类方法，会导致画面残留、重绘混乱，无法正确显示界面。</a:t>
            </a:r>
            <a:endParaRPr lang="en-US" sz="12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8B5F0FA-EE5A-B1BD-B0FC-902EF65EE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973873"/>
            <a:ext cx="5145820" cy="443075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298CF87-11A9-C4E2-6897-DD7F1C26B3F7}"/>
              </a:ext>
            </a:extLst>
          </p:cNvPr>
          <p:cNvSpPr txBox="1"/>
          <p:nvPr/>
        </p:nvSpPr>
        <p:spPr>
          <a:xfrm>
            <a:off x="5459125" y="4642009"/>
            <a:ext cx="45010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Graphics </a:t>
            </a:r>
            <a:r>
              <a:rPr lang="zh-CN" altLang="en-US" dirty="0"/>
              <a:t>是 </a:t>
            </a:r>
            <a:r>
              <a:rPr lang="en-US" altLang="zh-CN" dirty="0"/>
              <a:t>Java AWT/Swing </a:t>
            </a:r>
            <a:r>
              <a:rPr lang="zh-CN" altLang="en-US" dirty="0"/>
              <a:t>中最核心的绘图工具类，也是自定义组件实现 “自己画自己” 的底层支撑。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g.drawRect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(x, y, width, height);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画空心矩形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g.fillRect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(x, y, width, height);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画实心矩形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g.drawString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(str, x, y);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绘制字符串文字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g.setColor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(Color color);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设置画笔颜色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g.setFont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(Font font);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设置字体样式、大小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g.drawLine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(x1, y1, x2, y2);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画直线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g.drawOval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(x, y, w, h);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画空心椭圆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圆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g.fillOval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(x, y, w, h);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画实心椭圆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圆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A0071DE-973D-6B09-6A53-E3D8F03A7DD8}"/>
              </a:ext>
            </a:extLst>
          </p:cNvPr>
          <p:cNvCxnSpPr/>
          <p:nvPr/>
        </p:nvCxnSpPr>
        <p:spPr>
          <a:xfrm flipH="1" flipV="1">
            <a:off x="3221879" y="4007404"/>
            <a:ext cx="2366121" cy="552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BACDBA4-CE09-49A9-0254-B409C51B6504}"/>
              </a:ext>
            </a:extLst>
          </p:cNvPr>
          <p:cNvCxnSpPr/>
          <p:nvPr/>
        </p:nvCxnSpPr>
        <p:spPr>
          <a:xfrm flipV="1">
            <a:off x="7174051" y="2540682"/>
            <a:ext cx="386626" cy="1031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D7BF9-3F8A-39C1-A3F9-D7E74720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F3BD0C-60A0-5D96-BBE6-CF0CA602D7C6}"/>
              </a:ext>
            </a:extLst>
          </p:cNvPr>
          <p:cNvSpPr/>
          <p:nvPr/>
        </p:nvSpPr>
        <p:spPr>
          <a:xfrm>
            <a:off x="254000" y="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</a:t>
            </a:r>
            <a:r>
              <a:rPr lang="en-US" altLang="zh-CN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Button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Wingdings" panose="05000000000000000000" pitchFamily="2" charset="2"/>
              </a:rPr>
              <a:t></a:t>
            </a:r>
            <a:r>
              <a:rPr lang="en-US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MyButton</a:t>
            </a:r>
            <a:endParaRPr lang="en-US" sz="11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B622E4-06D2-D205-B8FB-49105764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75" y="716648"/>
            <a:ext cx="5120889" cy="56246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992873-E26D-465C-B99E-068D65B2A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508" y="317006"/>
            <a:ext cx="5783017" cy="62606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4E94314-5C34-0F22-2257-16E92EADF95B}"/>
              </a:ext>
            </a:extLst>
          </p:cNvPr>
          <p:cNvSpPr txBox="1"/>
          <p:nvPr/>
        </p:nvSpPr>
        <p:spPr>
          <a:xfrm>
            <a:off x="2798433" y="2936752"/>
            <a:ext cx="3172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用于判断鼠标位置是否在按键区域内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9A7F9F0-B201-555E-A21F-15AD6783B0D4}"/>
              </a:ext>
            </a:extLst>
          </p:cNvPr>
          <p:cNvCxnSpPr/>
          <p:nvPr/>
        </p:nvCxnSpPr>
        <p:spPr>
          <a:xfrm flipH="1">
            <a:off x="2338164" y="3129826"/>
            <a:ext cx="730292" cy="3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48AE6DF-75A4-9885-E38A-685EDF37036E}"/>
              </a:ext>
            </a:extLst>
          </p:cNvPr>
          <p:cNvSpPr txBox="1"/>
          <p:nvPr/>
        </p:nvSpPr>
        <p:spPr>
          <a:xfrm>
            <a:off x="3568097" y="5496124"/>
            <a:ext cx="2338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默认创建长方形按钮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C7C317E-111A-BA86-13A8-083670B47452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068456" y="5570195"/>
            <a:ext cx="499641" cy="64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50E02CA-E702-4987-DB85-B5BDF5FF8880}"/>
              </a:ext>
            </a:extLst>
          </p:cNvPr>
          <p:cNvSpPr txBox="1"/>
          <p:nvPr/>
        </p:nvSpPr>
        <p:spPr>
          <a:xfrm>
            <a:off x="9469256" y="1478996"/>
            <a:ext cx="2431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创建鼠标监听器，可以获得光标坐在位置，根据自定义类中的布尔函数可以判断鼠标指针是否在按钮区域内。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同时使用</a:t>
            </a:r>
            <a:r>
              <a:rPr lang="en-US" altLang="zh-CN" sz="1200" dirty="0" err="1"/>
              <a:t>mouseClicked</a:t>
            </a:r>
            <a:r>
              <a:rPr lang="zh-CN" altLang="en-US" sz="1200" dirty="0"/>
              <a:t>函数，若点击则激活该函数，进行一次判断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44341D9-E928-5D03-7A65-3F629E1A6AD2}"/>
              </a:ext>
            </a:extLst>
          </p:cNvPr>
          <p:cNvCxnSpPr/>
          <p:nvPr/>
        </p:nvCxnSpPr>
        <p:spPr>
          <a:xfrm flipH="1">
            <a:off x="9070357" y="1583323"/>
            <a:ext cx="460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2B1FE08-5594-D8CE-9B31-3AA41534FA40}"/>
              </a:ext>
            </a:extLst>
          </p:cNvPr>
          <p:cNvCxnSpPr/>
          <p:nvPr/>
        </p:nvCxnSpPr>
        <p:spPr>
          <a:xfrm flipH="1" flipV="1">
            <a:off x="8272558" y="2197015"/>
            <a:ext cx="1258068" cy="22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08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2DE20-1365-ADBA-5509-5301A939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3A993A1-DF2A-1EE8-F349-16DE232C9AFB}"/>
              </a:ext>
            </a:extLst>
          </p:cNvPr>
          <p:cNvSpPr/>
          <p:nvPr/>
        </p:nvSpPr>
        <p:spPr>
          <a:xfrm>
            <a:off x="254000" y="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JTextField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Wingdings" panose="05000000000000000000" pitchFamily="2" charset="2"/>
              </a:rPr>
              <a:t></a:t>
            </a:r>
            <a:r>
              <a:rPr lang="en-US" sz="32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MyTextField</a:t>
            </a:r>
            <a:endParaRPr lang="en-US" sz="1100" dirty="0"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4D30B26B-0C39-C68D-E789-F897D2C03591}"/>
              </a:ext>
            </a:extLst>
          </p:cNvPr>
          <p:cNvSpPr/>
          <p:nvPr/>
        </p:nvSpPr>
        <p:spPr>
          <a:xfrm>
            <a:off x="364475" y="6341328"/>
            <a:ext cx="11463050" cy="425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可以提出一些问题：</a:t>
            </a:r>
            <a:r>
              <a:rPr lang="en-US" altLang="zh-CN" sz="12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Q1…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921227-C690-B804-C486-94A4B094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739893"/>
            <a:ext cx="3835760" cy="53782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525E37-5135-ED58-4BC4-65C318566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760" y="577186"/>
            <a:ext cx="4205343" cy="29109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A6C00C-6F94-B58B-AC4C-472D1AC23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833" y="0"/>
            <a:ext cx="4112577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D7E86B-8316-E3DF-C3CF-126AA1F39CD2}"/>
              </a:ext>
            </a:extLst>
          </p:cNvPr>
          <p:cNvSpPr txBox="1"/>
          <p:nvPr/>
        </p:nvSpPr>
        <p:spPr>
          <a:xfrm>
            <a:off x="4032127" y="3488164"/>
            <a:ext cx="401248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这里相比自定义</a:t>
            </a:r>
            <a:r>
              <a:rPr lang="en-US" altLang="zh-CN" sz="1200" dirty="0" err="1"/>
              <a:t>JButton</a:t>
            </a:r>
            <a:r>
              <a:rPr lang="zh-CN" altLang="en-US" sz="1200" dirty="0"/>
              <a:t>，多实现了两个接口。但是注意前者也用到了鼠标监听器。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在之前的自定义按钮中，采用了外部添加鼠标监听器的方式实现交互，按钮自身无需实现监听器接口；</a:t>
            </a:r>
          </a:p>
          <a:p>
            <a:r>
              <a:rPr lang="zh-CN" altLang="en-US" sz="1200" dirty="0"/>
              <a:t>而当前 </a:t>
            </a:r>
            <a:r>
              <a:rPr lang="en-US" altLang="zh-CN" sz="1200" dirty="0" err="1"/>
              <a:t>MyPanel</a:t>
            </a:r>
            <a:r>
              <a:rPr lang="en-US" altLang="zh-CN" sz="1200" dirty="0"/>
              <a:t> </a:t>
            </a:r>
            <a:r>
              <a:rPr lang="zh-CN" altLang="en-US" sz="1200" dirty="0"/>
              <a:t>使用 </a:t>
            </a:r>
            <a:r>
              <a:rPr lang="en-US" altLang="zh-CN" sz="1200" dirty="0" err="1"/>
              <a:t>this.addMouseListener</a:t>
            </a:r>
            <a:r>
              <a:rPr lang="en-US" altLang="zh-CN" sz="1200" dirty="0"/>
              <a:t>(this)</a:t>
            </a:r>
            <a:r>
              <a:rPr lang="zh-CN" altLang="en-US" sz="1200" dirty="0"/>
              <a:t> 的方式，让面板自身作为监听器对象，必须实现 </a:t>
            </a:r>
            <a:r>
              <a:rPr lang="en-US" altLang="zh-CN" sz="1200" dirty="0" err="1"/>
              <a:t>MouseListener</a:t>
            </a:r>
            <a:r>
              <a:rPr lang="zh-CN" altLang="en-US" sz="1200" dirty="0"/>
              <a:t> 和 </a:t>
            </a:r>
            <a:r>
              <a:rPr lang="en-US" altLang="zh-CN" sz="1200" dirty="0" err="1"/>
              <a:t>KeyListener</a:t>
            </a:r>
            <a:r>
              <a:rPr lang="zh-CN" altLang="en-US" sz="1200" dirty="0"/>
              <a:t> 接口，才能接收并处理鼠标与键盘事件</a:t>
            </a:r>
            <a:r>
              <a:rPr lang="zh-CN" altLang="en-US" dirty="0"/>
              <a:t>。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6596C5D-3ACD-F920-3CB3-4A1649092421}"/>
              </a:ext>
            </a:extLst>
          </p:cNvPr>
          <p:cNvCxnSpPr/>
          <p:nvPr/>
        </p:nvCxnSpPr>
        <p:spPr>
          <a:xfrm flipV="1">
            <a:off x="7118819" y="822346"/>
            <a:ext cx="558459" cy="2712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271EADF-9210-9D55-4291-48244A60ECD7}"/>
              </a:ext>
            </a:extLst>
          </p:cNvPr>
          <p:cNvSpPr txBox="1"/>
          <p:nvPr/>
        </p:nvSpPr>
        <p:spPr>
          <a:xfrm>
            <a:off x="4787520" y="6341328"/>
            <a:ext cx="2809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需要实现接口的所有的只有声明的函数，用不上所以都给空实现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952AD4D-7E1D-12F8-8373-9952703F2675}"/>
              </a:ext>
            </a:extLst>
          </p:cNvPr>
          <p:cNvCxnSpPr/>
          <p:nvPr/>
        </p:nvCxnSpPr>
        <p:spPr>
          <a:xfrm flipV="1">
            <a:off x="7398048" y="5670507"/>
            <a:ext cx="804785" cy="73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84D7D29-AB1E-3E37-D281-4E03257C8DA5}"/>
              </a:ext>
            </a:extLst>
          </p:cNvPr>
          <p:cNvSpPr txBox="1"/>
          <p:nvPr/>
        </p:nvSpPr>
        <p:spPr>
          <a:xfrm>
            <a:off x="10089084" y="3734385"/>
            <a:ext cx="2276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如果点击文本框位置（</a:t>
            </a:r>
            <a:r>
              <a:rPr lang="en-US" altLang="zh-CN" sz="1200" dirty="0"/>
              <a:t>true</a:t>
            </a:r>
            <a:r>
              <a:rPr lang="zh-CN" altLang="en-US" sz="1200" dirty="0"/>
              <a:t>），就监听所有的键盘输入传给</a:t>
            </a:r>
            <a:r>
              <a:rPr lang="en-US" altLang="zh-CN" sz="1200" dirty="0" err="1"/>
              <a:t>MyTextField</a:t>
            </a:r>
            <a:r>
              <a:rPr lang="zh-CN" altLang="en-US" sz="1200" dirty="0"/>
              <a:t>的</a:t>
            </a:r>
            <a:r>
              <a:rPr lang="en-US" altLang="zh-CN" sz="1200" dirty="0"/>
              <a:t>s</a:t>
            </a:r>
            <a:r>
              <a:rPr lang="zh-CN" altLang="en-US" sz="1200" dirty="0"/>
              <a:t>，然后重写。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600D023-511C-6A13-47D5-6F9348212359}"/>
              </a:ext>
            </a:extLst>
          </p:cNvPr>
          <p:cNvCxnSpPr/>
          <p:nvPr/>
        </p:nvCxnSpPr>
        <p:spPr>
          <a:xfrm flipH="1" flipV="1">
            <a:off x="9591995" y="2522271"/>
            <a:ext cx="667126" cy="1147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9445BFB-6A36-8AD8-897E-1583E74D23C2}"/>
              </a:ext>
            </a:extLst>
          </p:cNvPr>
          <p:cNvCxnSpPr/>
          <p:nvPr/>
        </p:nvCxnSpPr>
        <p:spPr>
          <a:xfrm flipV="1">
            <a:off x="10555490" y="1092370"/>
            <a:ext cx="104327" cy="2642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39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228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自定义组件的使用、程序的展示</a:t>
            </a:r>
            <a:endParaRPr lang="en-US" altLang="zh-CN" sz="2000" dirty="0"/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064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展示一个完整的示例程序的构成、运行方式、运行结果等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1F1843A-19F3-3BB2-B382-4EACE493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740" y="0"/>
            <a:ext cx="785226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E34F1C4-FD8E-E661-9302-7BF5D1DE062E}"/>
              </a:ext>
            </a:extLst>
          </p:cNvPr>
          <p:cNvSpPr txBox="1"/>
          <p:nvPr/>
        </p:nvSpPr>
        <p:spPr>
          <a:xfrm>
            <a:off x="355941" y="540049"/>
            <a:ext cx="3952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程序整体结构说明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FCFF83-B38D-051A-9BCA-F0E188D099A9}"/>
              </a:ext>
            </a:extLst>
          </p:cNvPr>
          <p:cNvSpPr txBox="1"/>
          <p:nvPr/>
        </p:nvSpPr>
        <p:spPr>
          <a:xfrm>
            <a:off x="355941" y="1417627"/>
            <a:ext cx="3522588" cy="296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本程序中，为了简化结构，将整个代码分为</a:t>
            </a:r>
            <a:r>
              <a:rPr lang="en-US" altLang="zh-CN" dirty="0"/>
              <a:t>5</a:t>
            </a:r>
            <a:r>
              <a:rPr lang="zh-CN" altLang="en-US" dirty="0"/>
              <a:t>部分。其中</a:t>
            </a:r>
            <a:r>
              <a:rPr lang="en-US" altLang="zh-CN" dirty="0" err="1"/>
              <a:t>BaseComponent</a:t>
            </a:r>
            <a:r>
              <a:rPr lang="zh-CN" altLang="en-US" dirty="0"/>
              <a:t>是抽象类，三个组件</a:t>
            </a:r>
            <a:r>
              <a:rPr lang="en-US" altLang="zh-CN" dirty="0" err="1"/>
              <a:t>MyLabel</a:t>
            </a:r>
            <a:r>
              <a:rPr lang="zh-CN" altLang="en-US" dirty="0"/>
              <a:t>、</a:t>
            </a:r>
            <a:r>
              <a:rPr lang="en-US" altLang="zh-CN" dirty="0" err="1"/>
              <a:t>MyButton</a:t>
            </a:r>
            <a:r>
              <a:rPr lang="zh-CN" altLang="en-US" dirty="0"/>
              <a:t>、</a:t>
            </a:r>
            <a:r>
              <a:rPr lang="en-US" altLang="zh-CN" dirty="0" err="1"/>
              <a:t>MyTextField</a:t>
            </a:r>
            <a:r>
              <a:rPr lang="zh-CN" altLang="en-US" dirty="0"/>
              <a:t>分别继承它。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MyPanel</a:t>
            </a:r>
            <a:r>
              <a:rPr lang="zh-CN" altLang="en-US" dirty="0"/>
              <a:t>继承</a:t>
            </a:r>
            <a:r>
              <a:rPr lang="en-US" altLang="zh-CN" dirty="0" err="1"/>
              <a:t>Jpanel</a:t>
            </a:r>
            <a:r>
              <a:rPr lang="zh-CN" altLang="en-US" dirty="0"/>
              <a:t>，用于在主屏幕上画出自定义的组件，</a:t>
            </a:r>
            <a:r>
              <a:rPr lang="en-US" altLang="zh-CN" dirty="0" err="1"/>
              <a:t>public_frame</a:t>
            </a:r>
            <a:r>
              <a:rPr lang="zh-CN" altLang="en-US" dirty="0"/>
              <a:t>则继承</a:t>
            </a:r>
            <a:r>
              <a:rPr lang="en-US" altLang="zh-CN" dirty="0" err="1"/>
              <a:t>Jframe</a:t>
            </a:r>
            <a:r>
              <a:rPr lang="zh-CN" altLang="en-US" dirty="0"/>
              <a:t>生成主交互界面，将</a:t>
            </a:r>
            <a:r>
              <a:rPr lang="en-US" altLang="zh-CN" dirty="0" err="1"/>
              <a:t>MyPanel</a:t>
            </a:r>
            <a:r>
              <a:rPr lang="zh-CN" altLang="en-US" dirty="0"/>
              <a:t>加入其元件组中。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BEA109-75EB-AFEF-7EBD-A24DD2537204}"/>
              </a:ext>
            </a:extLst>
          </p:cNvPr>
          <p:cNvSpPr txBox="1"/>
          <p:nvPr/>
        </p:nvSpPr>
        <p:spPr>
          <a:xfrm>
            <a:off x="214792" y="4989310"/>
            <a:ext cx="4124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0070C0"/>
                </a:solidFill>
              </a:rPr>
              <a:t>右侧展示实际存储情况以及</a:t>
            </a:r>
            <a:r>
              <a:rPr lang="en-US" altLang="zh-CN" i="1" dirty="0" err="1">
                <a:solidFill>
                  <a:srgbClr val="0070C0"/>
                </a:solidFill>
              </a:rPr>
              <a:t>public_frame</a:t>
            </a:r>
            <a:r>
              <a:rPr lang="zh-CN" altLang="en-US" i="1" dirty="0">
                <a:solidFill>
                  <a:srgbClr val="0070C0"/>
                </a:solidFill>
              </a:rPr>
              <a:t>代码。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548AE9D-57CF-429B-2D6A-2F8FB4FEC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66" y="141248"/>
            <a:ext cx="5157342" cy="52485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F1ADCCB-896C-E80D-D775-C9F21D8FE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248"/>
            <a:ext cx="5430009" cy="457943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E63A90D-D527-87A9-E251-C1BA01C62831}"/>
              </a:ext>
            </a:extLst>
          </p:cNvPr>
          <p:cNvSpPr txBox="1"/>
          <p:nvPr/>
        </p:nvSpPr>
        <p:spPr>
          <a:xfrm>
            <a:off x="429584" y="5627549"/>
            <a:ext cx="4565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原件基类，可以直接让子类拥有长、宽等基本值，避免了多余的代码编写，同时保证结构完整。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7CB3E5-A74F-346C-B37B-6B6D64236986}"/>
              </a:ext>
            </a:extLst>
          </p:cNvPr>
          <p:cNvSpPr txBox="1"/>
          <p:nvPr/>
        </p:nvSpPr>
        <p:spPr>
          <a:xfrm>
            <a:off x="6210556" y="4860435"/>
            <a:ext cx="4117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上图为自定义</a:t>
            </a:r>
            <a:r>
              <a:rPr lang="en-US" altLang="zh-CN" dirty="0" err="1"/>
              <a:t>Jlabel</a:t>
            </a:r>
            <a:r>
              <a:rPr lang="zh-CN" altLang="en-US" dirty="0"/>
              <a:t>代码。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81780F4-D7D2-3086-145F-5F77F3056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33" y="0"/>
            <a:ext cx="4228111" cy="48544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4272A71-A27A-74AD-025E-2FCB72F5A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608" y="0"/>
            <a:ext cx="4608776" cy="485449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FAB9666-CD15-3907-0C26-363FA339A3A5}"/>
              </a:ext>
            </a:extLst>
          </p:cNvPr>
          <p:cNvSpPr txBox="1"/>
          <p:nvPr/>
        </p:nvSpPr>
        <p:spPr>
          <a:xfrm>
            <a:off x="163043" y="319119"/>
            <a:ext cx="2528408" cy="490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右侧是</a:t>
            </a:r>
            <a:r>
              <a:rPr lang="en-US" altLang="zh-CN" dirty="0" err="1"/>
              <a:t>MyButton</a:t>
            </a:r>
            <a:r>
              <a:rPr lang="zh-CN" altLang="en-US" dirty="0"/>
              <a:t>和</a:t>
            </a:r>
            <a:r>
              <a:rPr lang="en-US" altLang="zh-CN" dirty="0" err="1"/>
              <a:t>MyTextField</a:t>
            </a:r>
            <a:r>
              <a:rPr lang="zh-CN" altLang="en-US" dirty="0"/>
              <a:t>的自定义。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经过观察可发现他们的内容基本一样，都是画了一个框并填充了颜色。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但是</a:t>
            </a:r>
            <a:r>
              <a:rPr lang="en-US" altLang="zh-CN" dirty="0"/>
              <a:t>button</a:t>
            </a:r>
            <a:r>
              <a:rPr lang="zh-CN" altLang="en-US" dirty="0"/>
              <a:t>多了一个布尔变量</a:t>
            </a:r>
            <a:r>
              <a:rPr lang="en-US" altLang="zh-CN" dirty="0" err="1"/>
              <a:t>ip</a:t>
            </a:r>
            <a:r>
              <a:rPr lang="zh-CN" altLang="en-US" dirty="0"/>
              <a:t>，可以用于实现是否点击变色的功能。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注意二者的</a:t>
            </a:r>
            <a:r>
              <a:rPr lang="en-US" altLang="zh-CN" dirty="0" err="1"/>
              <a:t>drawString</a:t>
            </a:r>
            <a:r>
              <a:rPr lang="zh-CN" altLang="en-US" dirty="0"/>
              <a:t>位置不同，实现按钮的尽量文本在中间，文本框尽量从左侧开始输入。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DCAB74D-844C-0336-FBE3-7C5094706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-1"/>
            <a:ext cx="5010755" cy="31000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CAB9C60-0023-4698-9AD7-AE0B64E32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990" y="1787210"/>
            <a:ext cx="4149945" cy="50707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B9A8B9-8065-DB65-00F8-9F0A712FC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935" y="0"/>
            <a:ext cx="3864065" cy="6858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A141856-5BDF-8994-219C-4CE8FF5B394B}"/>
              </a:ext>
            </a:extLst>
          </p:cNvPr>
          <p:cNvSpPr txBox="1"/>
          <p:nvPr/>
        </p:nvSpPr>
        <p:spPr>
          <a:xfrm>
            <a:off x="79780" y="3172784"/>
            <a:ext cx="35594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在自定义</a:t>
            </a:r>
            <a:r>
              <a:rPr lang="en-US" altLang="zh-CN" dirty="0"/>
              <a:t>panel</a:t>
            </a:r>
            <a:r>
              <a:rPr lang="zh-CN" altLang="en-US" dirty="0"/>
              <a:t>中创建自定义的组件，使用构造函数直接赋值。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在自己的构造函数中设置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让这个</a:t>
            </a:r>
            <a:r>
              <a:rPr lang="en-US" altLang="zh-CN" dirty="0"/>
              <a:t>panel</a:t>
            </a:r>
            <a:r>
              <a:rPr lang="zh-CN" altLang="en-US" dirty="0"/>
              <a:t>成为焦点。只有设置了 </a:t>
            </a:r>
            <a:r>
              <a:rPr lang="en-US" altLang="zh-CN" dirty="0" err="1"/>
              <a:t>setFocusable</a:t>
            </a:r>
            <a:r>
              <a:rPr lang="en-US" altLang="zh-CN" dirty="0"/>
              <a:t>(true)</a:t>
            </a:r>
            <a:r>
              <a:rPr lang="zh-CN" altLang="en-US" dirty="0"/>
              <a:t>，面板才能被系统选中为 “当前活动组件”，这样你按键盘时，</a:t>
            </a:r>
            <a:r>
              <a:rPr lang="en-US" altLang="zh-CN" dirty="0" err="1"/>
              <a:t>KeyListener</a:t>
            </a:r>
            <a:r>
              <a:rPr lang="zh-CN" altLang="en-US" dirty="0"/>
              <a:t> 才能收到按键事件。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给</a:t>
            </a:r>
            <a:r>
              <a:rPr lang="en-US" altLang="zh-CN" dirty="0" err="1"/>
              <a:t>MyPanel</a:t>
            </a:r>
            <a:r>
              <a:rPr lang="zh-CN" altLang="en-US" dirty="0"/>
              <a:t>注册鼠标和键盘的监听器，这样才能接受鼠标和键盘的事件。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284384-0719-6F15-AF0D-BBB95F7F0937}"/>
              </a:ext>
            </a:extLst>
          </p:cNvPr>
          <p:cNvSpPr txBox="1"/>
          <p:nvPr/>
        </p:nvSpPr>
        <p:spPr>
          <a:xfrm>
            <a:off x="6161460" y="3485766"/>
            <a:ext cx="2166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右侧程序实现判断点击按钮或者点击文本输入框。</a:t>
            </a:r>
            <a:endParaRPr lang="en-US" altLang="zh-CN" dirty="0"/>
          </a:p>
          <a:p>
            <a:r>
              <a:rPr lang="zh-CN" altLang="en-US" dirty="0"/>
              <a:t>同时加入输出实时日志的功能。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990E39-A714-2122-C390-FF263709B6BD}"/>
              </a:ext>
            </a:extLst>
          </p:cNvPr>
          <p:cNvSpPr txBox="1"/>
          <p:nvPr/>
        </p:nvSpPr>
        <p:spPr>
          <a:xfrm>
            <a:off x="5179554" y="55232"/>
            <a:ext cx="31483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左侧使用</a:t>
            </a:r>
            <a:r>
              <a:rPr lang="en-US" altLang="zh-CN" dirty="0" err="1"/>
              <a:t>mousePressed</a:t>
            </a:r>
            <a:r>
              <a:rPr lang="zh-CN" altLang="en-US" dirty="0"/>
              <a:t>和</a:t>
            </a:r>
            <a:r>
              <a:rPr lang="en-US" altLang="zh-CN" dirty="0" err="1"/>
              <a:t>mouseReleased</a:t>
            </a:r>
            <a:r>
              <a:rPr lang="zh-CN" altLang="en-US" dirty="0"/>
              <a:t>结合，使点下按钮变一下色重新绘制，释放按钮再回复原色。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2C37-CF60-B81A-D71E-3298D1EF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1E8DF0-1A4B-B574-EC0E-076119202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573" y="523633"/>
            <a:ext cx="6162149" cy="41312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A1893CB-993B-71C4-DC4D-A8C4AE0D2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3" y="523633"/>
            <a:ext cx="5372425" cy="41312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E63024-6503-EDB4-449B-C464E38D3A59}"/>
              </a:ext>
            </a:extLst>
          </p:cNvPr>
          <p:cNvSpPr txBox="1"/>
          <p:nvPr/>
        </p:nvSpPr>
        <p:spPr>
          <a:xfrm>
            <a:off x="119562" y="4799066"/>
            <a:ext cx="10672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输入名字，点击按钮，会生成一句欢迎。（ </a:t>
            </a:r>
            <a:r>
              <a:rPr lang="en-US" altLang="zh-CN" dirty="0"/>
              <a:t>0 w 0 )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本程序实现了文本框输入数据、</a:t>
            </a:r>
            <a:r>
              <a:rPr lang="en-US" altLang="zh-CN" dirty="0"/>
              <a:t>Label</a:t>
            </a:r>
            <a:r>
              <a:rPr lang="zh-CN" altLang="en-US" dirty="0"/>
              <a:t>的条件输出、按钮点击变色、自动日志等简易功能。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A18547-683F-648B-25ED-8D47238C5D7E}"/>
              </a:ext>
            </a:extLst>
          </p:cNvPr>
          <p:cNvSpPr txBox="1"/>
          <p:nvPr/>
        </p:nvSpPr>
        <p:spPr>
          <a:xfrm>
            <a:off x="8260285" y="4799066"/>
            <a:ext cx="35287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缺点：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只能输入英文，中文需要输入法的转换等复杂过程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文字的位置控制不精准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文本输入区没有光标闪烁提示等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6988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889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794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与思考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4064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866888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对以上信息做总结，以及阐述一些</a:t>
            </a:r>
            <a:r>
              <a:rPr lang="en-US" altLang="zh-CN" sz="18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swing</a:t>
            </a:r>
            <a:r>
              <a:rPr lang="zh-CN" altLang="en-US" sz="18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的拓展与想法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91657C-038B-E7F5-7083-30BA0010599E}"/>
              </a:ext>
            </a:extLst>
          </p:cNvPr>
          <p:cNvSpPr txBox="1"/>
          <p:nvPr/>
        </p:nvSpPr>
        <p:spPr>
          <a:xfrm>
            <a:off x="762000" y="825500"/>
            <a:ext cx="1043888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1.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可以对</a:t>
            </a:r>
            <a:r>
              <a:rPr lang="en-US" altLang="zh-CN" sz="18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JDialog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也进行重写，实际上的用法和主窗口是类似的。</a:t>
            </a:r>
            <a:endParaRPr lang="en-US" altLang="zh-CN" sz="1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可以仿照 </a:t>
            </a:r>
            <a:r>
              <a:rPr lang="en-US" altLang="zh-CN" dirty="0" err="1"/>
              <a:t>JFrame</a:t>
            </a:r>
            <a:r>
              <a:rPr lang="en-US" altLang="zh-CN" dirty="0"/>
              <a:t> </a:t>
            </a:r>
            <a:r>
              <a:rPr lang="zh-CN" altLang="en-US" dirty="0"/>
              <a:t>窗口逻辑，自定义弹窗对话框，实现提示框、确认框、输入弹窗功能。弹窗内同样用自定义组件排布界面，重写绘制、绑定鼠标键盘事件，能完善弹窗交互场景，补齐窗口体系功能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2.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和数据库的结合？</a:t>
            </a:r>
            <a:endParaRPr lang="en-US" altLang="zh-CN" sz="1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自定义 </a:t>
            </a:r>
            <a:r>
              <a:rPr lang="en-US" altLang="zh-CN" dirty="0"/>
              <a:t>GUI </a:t>
            </a:r>
            <a:r>
              <a:rPr lang="zh-CN" altLang="en-US" dirty="0"/>
              <a:t>框架，使用</a:t>
            </a:r>
            <a:r>
              <a:rPr lang="en-US" altLang="zh-CN" dirty="0"/>
              <a:t>JDBC</a:t>
            </a:r>
            <a:r>
              <a:rPr lang="zh-CN" altLang="en-US" dirty="0"/>
              <a:t>可衔接</a:t>
            </a:r>
            <a:r>
              <a:rPr lang="en-US" altLang="zh-CN" dirty="0" err="1"/>
              <a:t>OpenGuass</a:t>
            </a:r>
            <a:r>
              <a:rPr lang="zh-CN" altLang="en-US" dirty="0"/>
              <a:t>等数据库，做出类 </a:t>
            </a:r>
            <a:r>
              <a:rPr lang="en-US" altLang="zh-CN" dirty="0" err="1"/>
              <a:t>DBeaver</a:t>
            </a:r>
            <a:r>
              <a:rPr lang="en-US" altLang="zh-CN" dirty="0"/>
              <a:t> </a:t>
            </a:r>
            <a:r>
              <a:rPr lang="zh-CN" altLang="en-US" dirty="0"/>
              <a:t>简易工具</a:t>
            </a:r>
            <a:r>
              <a:rPr lang="en-US" altLang="zh-CN" dirty="0"/>
              <a:t>,</a:t>
            </a:r>
            <a:r>
              <a:rPr lang="zh-CN" altLang="en-US" dirty="0"/>
              <a:t>实现数据表查看、数据增删改查、语句执行等基础功能。弊端：非常麻烦，代码好多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3.Swing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技术联系</a:t>
            </a:r>
            <a:endParaRPr lang="en-US" altLang="zh-CN" sz="1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本次所学的界面分层、元素绘制、坐标体系、事件监听、组件封装，是所有图形库通用底层思想。不管 </a:t>
            </a:r>
            <a:r>
              <a:rPr lang="en-US" altLang="zh-CN" dirty="0"/>
              <a:t>Swing</a:t>
            </a:r>
            <a:r>
              <a:rPr lang="zh-CN" altLang="en-US" dirty="0"/>
              <a:t>、</a:t>
            </a:r>
            <a:r>
              <a:rPr lang="en-US" altLang="zh-CN" dirty="0"/>
              <a:t>JavaFX</a:t>
            </a:r>
            <a:r>
              <a:rPr lang="zh-CN" altLang="en-US" dirty="0"/>
              <a:t>、</a:t>
            </a:r>
            <a:r>
              <a:rPr lang="en-US" altLang="zh-CN" dirty="0"/>
              <a:t>Qt</a:t>
            </a:r>
            <a:r>
              <a:rPr lang="zh-CN" altLang="en-US" dirty="0"/>
              <a:t>、</a:t>
            </a:r>
            <a:r>
              <a:rPr lang="en-US" altLang="zh-CN" dirty="0"/>
              <a:t>OpenGL</a:t>
            </a:r>
            <a:r>
              <a:rPr lang="zh-CN" altLang="en-US" dirty="0"/>
              <a:t>、前端 </a:t>
            </a:r>
            <a:r>
              <a:rPr lang="en-US" altLang="zh-CN" dirty="0"/>
              <a:t>Canvas</a:t>
            </a:r>
            <a:r>
              <a:rPr lang="zh-CN" altLang="en-US" dirty="0"/>
              <a:t>，本质都是创建画布、绘制图形、捕获用户操作、反馈交互效果，设计思路异曲同工。</a:t>
            </a:r>
            <a:endParaRPr lang="en-US" altLang="zh-CN" dirty="0"/>
          </a:p>
          <a:p>
            <a:r>
              <a:rPr lang="zh-CN" altLang="en-US" dirty="0"/>
              <a:t>但是</a:t>
            </a:r>
            <a:r>
              <a:rPr lang="en-US" altLang="zh-CN" dirty="0"/>
              <a:t>Swing </a:t>
            </a:r>
            <a:r>
              <a:rPr lang="zh-CN" altLang="en-US" dirty="0"/>
              <a:t>偏向桌面传统界面，语法老旧；新式图形库封装度更高、画面渲染效果更好，还适配多端，但底层绘图、事件分发的核心原理和本次学习内容高度一致。</a:t>
            </a:r>
            <a:endParaRPr lang="en-US" altLang="zh-CN" b="1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r>
              <a:rPr lang="zh-CN" altLang="en-US" sz="3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！！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1641</Words>
  <Application>Microsoft Office PowerPoint</Application>
  <PresentationFormat>宽屏</PresentationFormat>
  <Paragraphs>166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Noto Sans SC</vt:lpstr>
      <vt:lpstr>等线</vt:lpstr>
      <vt:lpstr>幼圆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osot A</cp:lastModifiedBy>
  <cp:revision>2</cp:revision>
  <dcterms:modified xsi:type="dcterms:W3CDTF">2026-05-24T00:30:48Z</dcterms:modified>
</cp:coreProperties>
</file>